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8"/>
  </p:notesMasterIdLst>
  <p:handoutMasterIdLst>
    <p:handoutMasterId r:id="rId19"/>
  </p:handoutMasterIdLst>
  <p:sldIdLst>
    <p:sldId id="299" r:id="rId5"/>
    <p:sldId id="261" r:id="rId6"/>
    <p:sldId id="290" r:id="rId7"/>
    <p:sldId id="307" r:id="rId8"/>
    <p:sldId id="301" r:id="rId9"/>
    <p:sldId id="303" r:id="rId10"/>
    <p:sldId id="297" r:id="rId11"/>
    <p:sldId id="300" r:id="rId12"/>
    <p:sldId id="304" r:id="rId13"/>
    <p:sldId id="305" r:id="rId14"/>
    <p:sldId id="298" r:id="rId15"/>
    <p:sldId id="275" r:id="rId16"/>
    <p:sldId id="276" r:id="rId17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9D6"/>
    <a:srgbClr val="CC66FF"/>
    <a:srgbClr val="E9E6DF"/>
    <a:srgbClr val="CC99FF"/>
    <a:srgbClr val="FF3300"/>
    <a:srgbClr val="F4B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41" autoAdjust="0"/>
    <p:restoredTop sz="94660"/>
  </p:normalViewPr>
  <p:slideViewPr>
    <p:cSldViewPr snapToGrid="0">
      <p:cViewPr varScale="1">
        <p:scale>
          <a:sx n="65" d="100"/>
          <a:sy n="65" d="100"/>
        </p:scale>
        <p:origin x="612" y="7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zde McGerr" userId="743f718e19241d00" providerId="LiveId" clId="{A8376C2C-8D69-4110-88E4-1CD6DE1E1EA0}"/>
    <pc:docChg chg="modSld">
      <pc:chgData name="Gozde McGerr" userId="743f718e19241d00" providerId="LiveId" clId="{A8376C2C-8D69-4110-88E4-1CD6DE1E1EA0}" dt="2024-05-30T21:24:30.854" v="2" actId="20577"/>
      <pc:docMkLst>
        <pc:docMk/>
      </pc:docMkLst>
      <pc:sldChg chg="modSp mod">
        <pc:chgData name="Gozde McGerr" userId="743f718e19241d00" providerId="LiveId" clId="{A8376C2C-8D69-4110-88E4-1CD6DE1E1EA0}" dt="2024-05-30T21:24:30.854" v="2" actId="20577"/>
        <pc:sldMkLst>
          <pc:docMk/>
          <pc:sldMk cId="920173932" sldId="275"/>
        </pc:sldMkLst>
        <pc:spChg chg="mod">
          <ac:chgData name="Gozde McGerr" userId="743f718e19241d00" providerId="LiveId" clId="{A8376C2C-8D69-4110-88E4-1CD6DE1E1EA0}" dt="2024-05-30T21:24:30.854" v="2" actId="20577"/>
          <ac:spMkLst>
            <pc:docMk/>
            <pc:sldMk cId="920173932" sldId="275"/>
            <ac:spMk id="3" creationId="{E14BBEAF-B516-45F4-9EF6-A9F65111580F}"/>
          </ac:spMkLst>
        </pc:spChg>
      </pc:sldChg>
      <pc:sldChg chg="modSp mod">
        <pc:chgData name="Gozde McGerr" userId="743f718e19241d00" providerId="LiveId" clId="{A8376C2C-8D69-4110-88E4-1CD6DE1E1EA0}" dt="2024-05-30T21:15:11.076" v="0" actId="1036"/>
        <pc:sldMkLst>
          <pc:docMk/>
          <pc:sldMk cId="478376356" sldId="299"/>
        </pc:sldMkLst>
        <pc:picChg chg="mod">
          <ac:chgData name="Gozde McGerr" userId="743f718e19241d00" providerId="LiveId" clId="{A8376C2C-8D69-4110-88E4-1CD6DE1E1EA0}" dt="2024-05-30T21:15:11.076" v="0" actId="1036"/>
          <ac:picMkLst>
            <pc:docMk/>
            <pc:sldMk cId="478376356" sldId="299"/>
            <ac:picMk id="174" creationId="{109271AB-C002-B9A4-71F9-E1B204A090E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</c:spPr>
          <c:dPt>
            <c:idx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44B-4E3D-9E0C-6113CA8B667F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5A1-4188-B4A0-143A18B27E36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44B-4E3D-9E0C-6113CA8B667F}"/>
              </c:ext>
            </c:extLst>
          </c:dPt>
          <c:dPt>
            <c:idx val="3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44B-4E3D-9E0C-6113CA8B667F}"/>
              </c:ext>
            </c:extLst>
          </c:dPt>
          <c:cat>
            <c:strRef>
              <c:f>Sheet1!$A$2:$A$5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A1-4188-B4A0-143A18B27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0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5">
                <a:lumMod val="20000"/>
                <a:lumOff val="80000"/>
              </a:schemeClr>
            </a:solidFill>
          </c:spPr>
          <c:dPt>
            <c:idx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2B9-45B1-BD69-03920A966D4A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2B9-45B1-BD69-03920A966D4A}"/>
              </c:ext>
            </c:extLst>
          </c:dPt>
          <c:dPt>
            <c:idx val="2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005-4012-A513-97BFE48235BE}"/>
              </c:ext>
            </c:extLst>
          </c:dPt>
          <c:dPt>
            <c:idx val="3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005-4012-A513-97BFE48235BE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B9-45B1-BD69-03920A966D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5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AFE-4F26-9FF2-AB709FF093F2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AFE-4F26-9FF2-AB709FF093F2}"/>
              </c:ext>
            </c:extLst>
          </c:dPt>
          <c:dPt>
            <c:idx val="2"/>
            <c:bubble3D val="0"/>
            <c:spPr>
              <a:solidFill>
                <a:schemeClr val="bg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AFE-4F26-9FF2-AB709FF093F2}"/>
              </c:ext>
            </c:extLst>
          </c:dPt>
          <c:dPt>
            <c:idx val="3"/>
            <c:bubble3D val="0"/>
            <c:spPr>
              <a:solidFill>
                <a:schemeClr val="bg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BAFE-4F26-9FF2-AB709FF093F2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18</c:v>
                </c:pt>
                <c:pt idx="2">
                  <c:v>18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FE-4F26-9FF2-AB709FF09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16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30/05/2024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30/05/2024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Introduction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54397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085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Customer Demographics and Loyalty Insights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6364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Boosting Customer Loyalty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65203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Complexities of Spending Behaviour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89307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ptos" panose="020B0004020202020204" pitchFamily="34" charset="0"/>
              </a:rPr>
              <a:t>Loyalty and Education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7592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Understanding Buying Behaviour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45999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Customer Segmentation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29072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Leveraging Customer Feedback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77809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Addressing Quality Concerns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12288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48179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2094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143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en-US" noProof="0" dirty="0"/>
              <a:t>Click icon to add chart</a:t>
            </a:r>
            <a:endParaRPr lang="en-GB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/>
          <a:p>
            <a:pPr rtl="0"/>
            <a:r>
              <a:rPr lang="en-US" noProof="0" dirty="0"/>
              <a:t>Click icon to add SmartArt graphic</a:t>
            </a:r>
            <a:endParaRPr lang="en-GB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18.xml"/><Relationship Id="rId7" Type="http://schemas.openxmlformats.org/officeDocument/2006/relationships/chart" Target="../charts/chart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6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6.png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26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26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6.png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6.png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6.png"/><Relationship Id="rId5" Type="http://schemas.openxmlformats.org/officeDocument/2006/relationships/image" Target="../media/image34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4383-C58B-A683-BFD8-B567D2D06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144" y="2294936"/>
            <a:ext cx="5431971" cy="8463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4800" b="1" kern="1200" cap="all" spc="150" baseline="0" dirty="0">
                <a:solidFill>
                  <a:srgbClr val="2439D6"/>
                </a:solidFill>
                <a:latin typeface="+mj-lt"/>
                <a:ea typeface="+mj-ea"/>
                <a:cs typeface="+mj-cs"/>
              </a:rPr>
              <a:t>Turtle games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5A1EF-5A87-9693-DBF2-FC03B1A95C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33144" y="3508558"/>
            <a:ext cx="5620656" cy="1099796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en-GB" sz="2600" i="0" kern="1200" dirty="0">
                <a:effectLst/>
                <a:latin typeface="+mn-lt"/>
                <a:ea typeface="+mn-ea"/>
                <a:cs typeface="+mn-cs"/>
              </a:rPr>
              <a:t>Predictive Data Analytics for Customer Engagement and Marketing Optimization</a:t>
            </a:r>
            <a:endParaRPr lang="en-GB" sz="2600" kern="1200" dirty="0">
              <a:latin typeface="+mn-lt"/>
              <a:ea typeface="+mn-ea"/>
              <a:cs typeface="+mn-cs"/>
            </a:endParaRPr>
          </a:p>
          <a:p>
            <a:endParaRPr lang="en-GB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475E0-CAA3-6F02-72D3-903F5CE03ED9}"/>
              </a:ext>
            </a:extLst>
          </p:cNvPr>
          <p:cNvSpPr txBox="1"/>
          <p:nvPr/>
        </p:nvSpPr>
        <p:spPr>
          <a:xfrm>
            <a:off x="5733144" y="4724129"/>
            <a:ext cx="5620655" cy="5579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GB" sz="1200" kern="1200" dirty="0">
              <a:highlight>
                <a:srgbClr val="E9E6DF"/>
              </a:highlight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kern="1200" dirty="0">
                <a:latin typeface="+mn-lt"/>
                <a:ea typeface="+mn-ea"/>
                <a:cs typeface="+mn-cs"/>
              </a:rPr>
              <a:t>Gozde McGerr</a:t>
            </a:r>
          </a:p>
        </p:txBody>
      </p:sp>
      <p:sp>
        <p:nvSpPr>
          <p:cNvPr id="22" name="Date Placeholder 10">
            <a:extLst>
              <a:ext uri="{FF2B5EF4-FFF2-40B4-BE49-F238E27FC236}">
                <a16:creationId xmlns:a16="http://schemas.microsoft.com/office/drawing/2014/main" id="{823340CE-A005-3894-0B43-25D06B82E6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 dirty="0">
                <a:latin typeface="+mn-lt"/>
                <a:ea typeface="+mn-ea"/>
                <a:cs typeface="+mn-cs"/>
              </a:rPr>
              <a:t>2024</a:t>
            </a:r>
          </a:p>
        </p:txBody>
      </p:sp>
      <p:sp>
        <p:nvSpPr>
          <p:cNvPr id="24" name="Footer Placeholder 11">
            <a:extLst>
              <a:ext uri="{FF2B5EF4-FFF2-40B4-BE49-F238E27FC236}">
                <a16:creationId xmlns:a16="http://schemas.microsoft.com/office/drawing/2014/main" id="{3A44C98B-218E-221D-D1D4-05C6F1D1D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 dirty="0">
                <a:latin typeface="+mn-lt"/>
                <a:ea typeface="+mn-ea"/>
                <a:cs typeface="+mn-cs"/>
              </a:rPr>
              <a:t>Turtle Games</a:t>
            </a:r>
          </a:p>
        </p:txBody>
      </p:sp>
      <p:sp>
        <p:nvSpPr>
          <p:cNvPr id="26" name="Slide Number Placeholder 12">
            <a:extLst>
              <a:ext uri="{FF2B5EF4-FFF2-40B4-BE49-F238E27FC236}">
                <a16:creationId xmlns:a16="http://schemas.microsoft.com/office/drawing/2014/main" id="{565CDFE3-AC69-692F-285F-19DEF82F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GB" smtClean="0"/>
              <a:pPr>
                <a:spcAft>
                  <a:spcPts val="600"/>
                </a:spcAft>
              </a:pPr>
              <a:t>1</a:t>
            </a:fld>
            <a:endParaRPr lang="en-GB" dirty="0"/>
          </a:p>
        </p:txBody>
      </p:sp>
      <p:pic>
        <p:nvPicPr>
          <p:cNvPr id="174" name="Audio 173">
            <a:hlinkClick r:id="" action="ppaction://media"/>
            <a:extLst>
              <a:ext uri="{FF2B5EF4-FFF2-40B4-BE49-F238E27FC236}">
                <a16:creationId xmlns:a16="http://schemas.microsoft.com/office/drawing/2014/main" id="{109271AB-C002-B9A4-71F9-E1B204A090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33052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7837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38"/>
    </mc:Choice>
    <mc:Fallback xmlns="">
      <p:transition spd="slow" advTm="159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2152" y="244501"/>
            <a:ext cx="4825219" cy="844063"/>
          </a:xfrm>
        </p:spPr>
        <p:txBody>
          <a:bodyPr rtlCol="0">
            <a:noAutofit/>
          </a:bodyPr>
          <a:lstStyle/>
          <a:p>
            <a:pPr rtl="0"/>
            <a:r>
              <a:rPr lang="en-GB" sz="3200" b="1" dirty="0">
                <a:solidFill>
                  <a:srgbClr val="2439D6"/>
                </a:solidFill>
              </a:rPr>
              <a:t>Business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dirty="0"/>
              <a:t> </a:t>
            </a:r>
            <a:r>
              <a:rPr lang="en-GB" sz="1800" b="1" dirty="0">
                <a:solidFill>
                  <a:srgbClr val="2439D6"/>
                </a:solidFill>
              </a:rPr>
              <a:t>customers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pPr rtl="0"/>
            <a:r>
              <a:rPr lang="en-GB" sz="1800" b="1" dirty="0">
                <a:solidFill>
                  <a:srgbClr val="2439D6"/>
                </a:solidFill>
              </a:rPr>
              <a:t>loyalty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/>
          <a:lstStyle/>
          <a:p>
            <a:pPr rtl="0"/>
            <a:r>
              <a:rPr lang="en-GB" sz="1800" b="1" dirty="0">
                <a:solidFill>
                  <a:srgbClr val="2439D6"/>
                </a:solidFill>
              </a:rPr>
              <a:t>marketing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/>
          <a:lstStyle/>
          <a:p>
            <a:pPr rtl="0"/>
            <a:r>
              <a:rPr lang="en-GB" sz="1800" b="1" dirty="0">
                <a:solidFill>
                  <a:srgbClr val="2439D6"/>
                </a:solidFill>
              </a:rPr>
              <a:t>Reviews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570802"/>
          </a:xfrm>
        </p:spPr>
        <p:txBody>
          <a:bodyPr rtlCol="0"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7200" kern="100" dirty="0">
                <a:solidFill>
                  <a:srgbClr val="0D0D0D"/>
                </a:solidFill>
                <a:effectLst/>
                <a:highlight>
                  <a:srgbClr val="E9E6DF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Who are our customers</a:t>
            </a:r>
            <a:r>
              <a:rPr lang="en-GB" sz="7200" kern="100" dirty="0">
                <a:solidFill>
                  <a:srgbClr val="0D0D0D"/>
                </a:solidFill>
                <a:highlight>
                  <a:srgbClr val="E9E6DF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, and </a:t>
            </a:r>
            <a:r>
              <a:rPr lang="en-GB" sz="7200" b="0" i="0" dirty="0">
                <a:solidFill>
                  <a:srgbClr val="0D0D0D"/>
                </a:solidFill>
                <a:effectLst/>
                <a:highlight>
                  <a:srgbClr val="E9E6DF"/>
                </a:highlight>
              </a:rPr>
              <a:t>what level of loyalty do they exhibit?</a:t>
            </a:r>
            <a:endParaRPr lang="en-GB" sz="7200" kern="100" dirty="0">
              <a:effectLst/>
              <a:highlight>
                <a:srgbClr val="E9E6DF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rtl="0"/>
            <a:endParaRPr lang="en-GB" sz="18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7" y="2673328"/>
            <a:ext cx="6367771" cy="1010842"/>
          </a:xfrm>
        </p:spPr>
        <p:txBody>
          <a:bodyPr rtlCol="0"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solidFill>
                  <a:srgbClr val="0D0D0D"/>
                </a:solidFill>
                <a:effectLst/>
                <a:highlight>
                  <a:srgbClr val="E9E6DF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How can we improve customer loyalty accumulation to boost our sales?</a:t>
            </a:r>
            <a:endParaRPr lang="en-GB" sz="1800" kern="100" dirty="0">
              <a:effectLst/>
              <a:highlight>
                <a:srgbClr val="E9E6DF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rtl="0"/>
            <a:endParaRPr lang="en-GB" sz="1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6" y="3755394"/>
            <a:ext cx="6367771" cy="1010842"/>
          </a:xfrm>
        </p:spPr>
        <p:txBody>
          <a:bodyPr rtlCol="0">
            <a:normAutofit/>
          </a:bodyPr>
          <a:lstStyle/>
          <a:p>
            <a:r>
              <a:rPr lang="en-GB" sz="1800" b="0" i="0" dirty="0">
                <a:solidFill>
                  <a:srgbClr val="0D0D0D"/>
                </a:solidFill>
                <a:effectLst/>
                <a:highlight>
                  <a:srgbClr val="E9E6DF"/>
                </a:highlight>
                <a:latin typeface="Söhne"/>
              </a:rPr>
              <a:t>Which specific customer groups </a:t>
            </a:r>
            <a:r>
              <a:rPr lang="en-GB" sz="1800" dirty="0">
                <a:solidFill>
                  <a:srgbClr val="0D0D0D"/>
                </a:solidFill>
                <a:highlight>
                  <a:srgbClr val="E9E6DF"/>
                </a:highlight>
                <a:latin typeface="Söhne"/>
              </a:rPr>
              <a:t>can be targeted by </a:t>
            </a:r>
            <a:r>
              <a:rPr lang="en-GB" sz="1800" b="0" i="0" dirty="0">
                <a:solidFill>
                  <a:srgbClr val="0D0D0D"/>
                </a:solidFill>
                <a:effectLst/>
                <a:highlight>
                  <a:srgbClr val="E9E6DF"/>
                </a:highlight>
                <a:latin typeface="Söhne"/>
              </a:rPr>
              <a:t>marketing department?</a:t>
            </a:r>
            <a:endParaRPr lang="en-GB" sz="1800" dirty="0">
              <a:highlight>
                <a:srgbClr val="E9E6DF"/>
              </a:highlight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56300" y="4824430"/>
            <a:ext cx="6235700" cy="1010842"/>
          </a:xfrm>
        </p:spPr>
        <p:txBody>
          <a:bodyPr rtlCol="0">
            <a:normAutofit/>
          </a:bodyPr>
          <a:lstStyle/>
          <a:p>
            <a:pPr rtl="0"/>
            <a:r>
              <a:rPr lang="en-GB" sz="1800" b="0" i="0" dirty="0">
                <a:solidFill>
                  <a:srgbClr val="0D0D0D"/>
                </a:solidFill>
                <a:effectLst/>
                <a:highlight>
                  <a:srgbClr val="E9E6DF"/>
                </a:highlight>
                <a:latin typeface="Söhne"/>
              </a:rPr>
              <a:t>How can we use customer reviews and feedback to improve customer satisfaction?</a:t>
            </a:r>
            <a:endParaRPr lang="en-GB" sz="1800" dirty="0">
              <a:highlight>
                <a:srgbClr val="E9E6DF"/>
              </a:highlight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2024</a:t>
            </a:r>
          </a:p>
        </p:txBody>
      </p:sp>
      <p:sp>
        <p:nvSpPr>
          <p:cNvPr id="80" name="Footer Placeholder 79">
            <a:extLst>
              <a:ext uri="{FF2B5EF4-FFF2-40B4-BE49-F238E27FC236}">
                <a16:creationId xmlns:a16="http://schemas.microsoft.com/office/drawing/2014/main" id="{81398ED2-66DB-46EA-8D89-B07A5C03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/>
          <a:p>
            <a:pPr rtl="0"/>
            <a:r>
              <a:rPr lang="en-GB" dirty="0"/>
              <a:t>Turtle Games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2</a:t>
            </a:fld>
            <a:endParaRPr lang="en-GB" dirty="0"/>
          </a:p>
        </p:txBody>
      </p:sp>
      <p:pic>
        <p:nvPicPr>
          <p:cNvPr id="101" name="Audio 100">
            <a:hlinkClick r:id="" action="ppaction://media"/>
            <a:extLst>
              <a:ext uri="{FF2B5EF4-FFF2-40B4-BE49-F238E27FC236}">
                <a16:creationId xmlns:a16="http://schemas.microsoft.com/office/drawing/2014/main" id="{6AFF01CB-AB3A-1D89-B7A8-7CCEBE8F25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00"/>
    </mc:Choice>
    <mc:Fallback xmlns="">
      <p:transition spd="slow" advTm="174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4739B-8DE9-4523-8034-4E83861CC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1680" y="3832736"/>
            <a:ext cx="2330726" cy="663858"/>
          </a:xfrm>
        </p:spPr>
        <p:txBody>
          <a:bodyPr rtlCol="0"/>
          <a:lstStyle/>
          <a:p>
            <a:pPr rtl="0"/>
            <a:r>
              <a:rPr lang="en-GB" b="1" dirty="0">
                <a:solidFill>
                  <a:srgbClr val="2439D6"/>
                </a:solidFill>
              </a:rPr>
              <a:t>84%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487CCC0-D329-4C1F-A1CD-04930A23C5C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772602" y="4512404"/>
            <a:ext cx="1979934" cy="438504"/>
          </a:xfrm>
        </p:spPr>
        <p:txBody>
          <a:bodyPr rtlCol="0"/>
          <a:lstStyle/>
          <a:p>
            <a:pPr rtl="0"/>
            <a:r>
              <a:rPr lang="en-GB" sz="1800" b="1" dirty="0"/>
              <a:t>AGE 20-60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145D0E-892D-492B-8AD6-551CF27DD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22717" y="3933180"/>
            <a:ext cx="2342205" cy="563414"/>
          </a:xfrm>
        </p:spPr>
        <p:txBody>
          <a:bodyPr rtlCol="0"/>
          <a:lstStyle/>
          <a:p>
            <a:pPr rtl="0"/>
            <a:r>
              <a:rPr lang="en-GB" b="1" dirty="0">
                <a:solidFill>
                  <a:srgbClr val="2439D6"/>
                </a:solidFill>
              </a:rPr>
              <a:t>57%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4E62770-EE0A-4D83-B50E-CD868056030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68821" y="4512403"/>
            <a:ext cx="2153361" cy="438505"/>
          </a:xfrm>
        </p:spPr>
        <p:txBody>
          <a:bodyPr rtlCol="0"/>
          <a:lstStyle/>
          <a:p>
            <a:pPr rtl="0"/>
            <a:r>
              <a:rPr lang="en-GB" sz="1800" b="1" dirty="0"/>
              <a:t>FEMALE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D3951E-8DE6-4BA9-B9BA-CFCDF4322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352127" y="4950908"/>
            <a:ext cx="2652167" cy="773079"/>
          </a:xfrm>
        </p:spPr>
        <p:txBody>
          <a:bodyPr rtlCol="0">
            <a:normAutofit fontScale="92500" lnSpcReduction="20000"/>
          </a:bodyPr>
          <a:lstStyle/>
          <a:p>
            <a:pPr rtl="0"/>
            <a:endParaRPr lang="en-GB" dirty="0"/>
          </a:p>
          <a:p>
            <a:pPr rtl="0"/>
            <a:r>
              <a:rPr lang="en-GB" dirty="0">
                <a:solidFill>
                  <a:srgbClr val="E9E6DF"/>
                </a:solidFill>
              </a:rPr>
              <a:t> </a:t>
            </a:r>
            <a:r>
              <a:rPr lang="en-GB" sz="1500" b="0" i="0" dirty="0">
                <a:effectLst/>
                <a:latin typeface="Söhne"/>
              </a:rPr>
              <a:t>Age Does Not Influence Loyalty Accumulation</a:t>
            </a:r>
            <a:endParaRPr lang="en-GB" sz="15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66E4F1A-AD73-4086-B578-235F0B9F1FC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48427" y="3933180"/>
            <a:ext cx="2330726" cy="563414"/>
          </a:xfrm>
        </p:spPr>
        <p:txBody>
          <a:bodyPr rtlCol="0"/>
          <a:lstStyle/>
          <a:p>
            <a:pPr rtl="0"/>
            <a:r>
              <a:rPr lang="en-GB" b="1" dirty="0">
                <a:solidFill>
                  <a:srgbClr val="2439D6"/>
                </a:solidFill>
              </a:rPr>
              <a:t>48%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AB421C5-B6AC-48B8-8AEB-AB16AAE5010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48426" y="4626173"/>
            <a:ext cx="2491447" cy="324735"/>
          </a:xfrm>
        </p:spPr>
        <p:txBody>
          <a:bodyPr rtlCol="0"/>
          <a:lstStyle/>
          <a:p>
            <a:pPr rtl="0"/>
            <a:r>
              <a:rPr lang="en-GB" sz="1800" b="1" dirty="0"/>
              <a:t>GRADUATES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45C82A0-3F56-47BD-9FB2-6B56DA715F9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661967" y="5144765"/>
            <a:ext cx="3263704" cy="773080"/>
          </a:xfrm>
        </p:spPr>
        <p:txBody>
          <a:bodyPr rtlCol="0">
            <a:normAutofit/>
          </a:bodyPr>
          <a:lstStyle/>
          <a:p>
            <a:pPr rtl="0"/>
            <a:r>
              <a:rPr lang="en-GB" b="0" i="0" dirty="0">
                <a:effectLst/>
                <a:latin typeface="Söhne"/>
              </a:rPr>
              <a:t>Females Accumulate More </a:t>
            </a:r>
            <a:r>
              <a:rPr lang="en-GB" dirty="0">
                <a:latin typeface="Söhne"/>
              </a:rPr>
              <a:t>L</a:t>
            </a:r>
            <a:r>
              <a:rPr lang="en-GB" b="0" i="0" dirty="0">
                <a:effectLst/>
                <a:latin typeface="Söhne"/>
              </a:rPr>
              <a:t>oyalty Points compared to 43% of Males.</a:t>
            </a:r>
            <a:endParaRPr lang="en-GB" noProof="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63C171-5812-4E79-804A-ED04E1BD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D8A4DC-ECAA-4D59-BE12-EBEDDE9E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 dirty="0"/>
              <a:t>Turtle Games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FC0B64-8F13-426F-B6C5-9C9427AC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3</a:t>
            </a:fld>
            <a:endParaRPr lang="en-GB" dirty="0"/>
          </a:p>
        </p:txBody>
      </p:sp>
      <p:sp>
        <p:nvSpPr>
          <p:cNvPr id="34" name="Content Placeholder 10">
            <a:extLst>
              <a:ext uri="{FF2B5EF4-FFF2-40B4-BE49-F238E27FC236}">
                <a16:creationId xmlns:a16="http://schemas.microsoft.com/office/drawing/2014/main" id="{CE53C0C4-07FC-A155-0385-1C2DDCB27125}"/>
              </a:ext>
            </a:extLst>
          </p:cNvPr>
          <p:cNvSpPr txBox="1">
            <a:spLocks/>
          </p:cNvSpPr>
          <p:nvPr/>
        </p:nvSpPr>
        <p:spPr>
          <a:xfrm>
            <a:off x="8153400" y="5144765"/>
            <a:ext cx="2889738" cy="77307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Söhne"/>
              </a:rPr>
              <a:t>Education Plays a Role in Influencing Loyalty.</a:t>
            </a:r>
            <a:endParaRPr lang="en-GB" noProof="1"/>
          </a:p>
        </p:txBody>
      </p:sp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6E55B527-CED7-5234-B371-50BBEF28EF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181779"/>
              </p:ext>
            </p:extLst>
          </p:nvPr>
        </p:nvGraphicFramePr>
        <p:xfrm>
          <a:off x="5134257" y="1892320"/>
          <a:ext cx="2247336" cy="1640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9447813F-A6ED-3E54-6EE5-19574EB038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8416016"/>
              </p:ext>
            </p:extLst>
          </p:nvPr>
        </p:nvGraphicFramePr>
        <p:xfrm>
          <a:off x="1436485" y="1974305"/>
          <a:ext cx="2652167" cy="1640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7" name="Chart 46">
            <a:extLst>
              <a:ext uri="{FF2B5EF4-FFF2-40B4-BE49-F238E27FC236}">
                <a16:creationId xmlns:a16="http://schemas.microsoft.com/office/drawing/2014/main" id="{4FCEA86C-2411-D65A-B555-F48B259783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1138914"/>
              </p:ext>
            </p:extLst>
          </p:nvPr>
        </p:nvGraphicFramePr>
        <p:xfrm>
          <a:off x="8286538" y="1862295"/>
          <a:ext cx="2392615" cy="16797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BC262AE-6D6E-A282-058C-EEAB50ACD3B4}"/>
              </a:ext>
            </a:extLst>
          </p:cNvPr>
          <p:cNvSpPr txBox="1"/>
          <p:nvPr/>
        </p:nvSpPr>
        <p:spPr>
          <a:xfrm>
            <a:off x="4356100" y="567749"/>
            <a:ext cx="3992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Who are our </a:t>
            </a:r>
            <a:r>
              <a:rPr lang="en-GB" sz="2800" dirty="0">
                <a:solidFill>
                  <a:srgbClr val="2439D6"/>
                </a:solidFill>
              </a:rPr>
              <a:t>Customers</a:t>
            </a:r>
            <a:r>
              <a:rPr lang="en-GB" sz="2800" dirty="0"/>
              <a:t>?</a:t>
            </a:r>
          </a:p>
        </p:txBody>
      </p:sp>
      <p:pic>
        <p:nvPicPr>
          <p:cNvPr id="127" name="Audio 126">
            <a:hlinkClick r:id="" action="ppaction://media"/>
            <a:extLst>
              <a:ext uri="{FF2B5EF4-FFF2-40B4-BE49-F238E27FC236}">
                <a16:creationId xmlns:a16="http://schemas.microsoft.com/office/drawing/2014/main" id="{A5DAEF96-E98F-92E4-7AF3-2756B3DA95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7782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271"/>
    </mc:Choice>
    <mc:Fallback xmlns="">
      <p:transition spd="slow" advTm="822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71EC16-90D4-1F53-7F82-16874F20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 dirty="0"/>
              <a:t>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82967-B79C-CDE3-5C70-7AC20AE7D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dirty="0"/>
              <a:t>Turtle Games</a:t>
            </a:r>
            <a:endParaRPr lang="en-GB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FEAD81-7A30-E248-C183-AD0E2C45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4</a:t>
            </a:fld>
            <a:endParaRPr lang="en-GB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F54BD9-6E6B-7469-B6D1-C476D9F51E03}"/>
              </a:ext>
            </a:extLst>
          </p:cNvPr>
          <p:cNvSpPr txBox="1"/>
          <p:nvPr/>
        </p:nvSpPr>
        <p:spPr>
          <a:xfrm>
            <a:off x="1416050" y="241271"/>
            <a:ext cx="972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Increase in Customers’ </a:t>
            </a:r>
            <a:r>
              <a:rPr lang="en-GB" sz="2800" dirty="0">
                <a:solidFill>
                  <a:srgbClr val="2439D6"/>
                </a:solidFill>
              </a:rPr>
              <a:t>Income</a:t>
            </a:r>
            <a:r>
              <a:rPr lang="en-GB" sz="2800" dirty="0"/>
              <a:t> Correlates with </a:t>
            </a:r>
            <a:r>
              <a:rPr lang="en-GB" sz="2800" dirty="0">
                <a:solidFill>
                  <a:srgbClr val="2439D6"/>
                </a:solidFill>
              </a:rPr>
              <a:t>Higher Loyalty Points</a:t>
            </a:r>
            <a:r>
              <a:rPr lang="en-GB" sz="2800" dirty="0"/>
              <a:t> Accumulation.</a:t>
            </a:r>
          </a:p>
        </p:txBody>
      </p:sp>
      <p:pic>
        <p:nvPicPr>
          <p:cNvPr id="25" name="Picture 24" descr="A graph with blue dots and red line&#10;&#10;Description automatically generated">
            <a:extLst>
              <a:ext uri="{FF2B5EF4-FFF2-40B4-BE49-F238E27FC236}">
                <a16:creationId xmlns:a16="http://schemas.microsoft.com/office/drawing/2014/main" id="{9BD3AB44-9BF8-8A6D-044D-C35DA3AFA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8139" y="1351978"/>
            <a:ext cx="7495721" cy="4847772"/>
          </a:xfrm>
          <a:prstGeom prst="rect">
            <a:avLst/>
          </a:prstGeom>
        </p:spPr>
      </p:pic>
      <p:pic>
        <p:nvPicPr>
          <p:cNvPr id="149" name="Audio 148">
            <a:hlinkClick r:id="" action="ppaction://media"/>
            <a:extLst>
              <a:ext uri="{FF2B5EF4-FFF2-40B4-BE49-F238E27FC236}">
                <a16:creationId xmlns:a16="http://schemas.microsoft.com/office/drawing/2014/main" id="{CFE900FF-C4CD-2074-734C-089FE151C6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9425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794"/>
    </mc:Choice>
    <mc:Fallback xmlns="">
      <p:transition spd="slow" advTm="417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71EC16-90D4-1F53-7F82-16874F20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 dirty="0"/>
              <a:t>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82967-B79C-CDE3-5C70-7AC20AE7D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 dirty="0"/>
              <a:t>Turtle Games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FEAD81-7A30-E248-C183-AD0E2C45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5</a:t>
            </a:fld>
            <a:endParaRPr lang="en-GB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16F7F-7AA7-2ADF-8A3E-85934EDA0949}"/>
              </a:ext>
            </a:extLst>
          </p:cNvPr>
          <p:cNvSpPr txBox="1"/>
          <p:nvPr/>
        </p:nvSpPr>
        <p:spPr>
          <a:xfrm>
            <a:off x="820057" y="261257"/>
            <a:ext cx="107732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dirty="0">
                <a:solidFill>
                  <a:srgbClr val="0D0D0D"/>
                </a:solidFill>
              </a:rPr>
              <a:t>A</a:t>
            </a:r>
            <a:r>
              <a:rPr lang="en-GB" sz="2600" i="0" dirty="0">
                <a:solidFill>
                  <a:srgbClr val="0D0D0D"/>
                </a:solidFill>
                <a:effectLst/>
              </a:rPr>
              <a:t> Complex </a:t>
            </a:r>
            <a:r>
              <a:rPr lang="en-GB" sz="2600" dirty="0">
                <a:solidFill>
                  <a:srgbClr val="0D0D0D"/>
                </a:solidFill>
              </a:rPr>
              <a:t>R</a:t>
            </a:r>
            <a:r>
              <a:rPr lang="en-GB" sz="2600" i="0" dirty="0">
                <a:solidFill>
                  <a:srgbClr val="0D0D0D"/>
                </a:solidFill>
                <a:effectLst/>
              </a:rPr>
              <a:t>elationship between </a:t>
            </a:r>
            <a:r>
              <a:rPr lang="en-GB" sz="2600" dirty="0">
                <a:solidFill>
                  <a:srgbClr val="2439D6"/>
                </a:solidFill>
              </a:rPr>
              <a:t>S</a:t>
            </a:r>
            <a:r>
              <a:rPr lang="en-GB" sz="2600" i="0" dirty="0">
                <a:solidFill>
                  <a:srgbClr val="2439D6"/>
                </a:solidFill>
                <a:effectLst/>
              </a:rPr>
              <a:t>pending </a:t>
            </a:r>
            <a:r>
              <a:rPr lang="en-GB" sz="2600" dirty="0">
                <a:solidFill>
                  <a:srgbClr val="2439D6"/>
                </a:solidFill>
              </a:rPr>
              <a:t>S</a:t>
            </a:r>
            <a:r>
              <a:rPr lang="en-GB" sz="2600" i="0" dirty="0">
                <a:solidFill>
                  <a:srgbClr val="2439D6"/>
                </a:solidFill>
                <a:effectLst/>
              </a:rPr>
              <a:t>cores </a:t>
            </a:r>
            <a:r>
              <a:rPr lang="en-GB" sz="2600" i="0" dirty="0">
                <a:solidFill>
                  <a:srgbClr val="0D0D0D"/>
                </a:solidFill>
                <a:effectLst/>
              </a:rPr>
              <a:t>and </a:t>
            </a:r>
            <a:r>
              <a:rPr lang="en-GB" sz="2600" dirty="0">
                <a:solidFill>
                  <a:srgbClr val="2439D6"/>
                </a:solidFill>
              </a:rPr>
              <a:t>L</a:t>
            </a:r>
            <a:r>
              <a:rPr lang="en-GB" sz="2600" i="0" dirty="0">
                <a:solidFill>
                  <a:srgbClr val="2439D6"/>
                </a:solidFill>
                <a:effectLst/>
              </a:rPr>
              <a:t>oyalty</a:t>
            </a:r>
            <a:r>
              <a:rPr lang="en-GB" sz="2600" i="0" dirty="0">
                <a:solidFill>
                  <a:srgbClr val="0D0D0D"/>
                </a:solidFill>
                <a:effectLst/>
              </a:rPr>
              <a:t> </a:t>
            </a:r>
            <a:r>
              <a:rPr lang="en-GB" sz="2600" dirty="0">
                <a:solidFill>
                  <a:srgbClr val="0D0D0D"/>
                </a:solidFill>
              </a:rPr>
              <a:t>P</a:t>
            </a:r>
            <a:r>
              <a:rPr lang="en-GB" sz="2600" b="0" i="0" dirty="0">
                <a:solidFill>
                  <a:srgbClr val="0D0D0D"/>
                </a:solidFill>
                <a:effectLst/>
              </a:rPr>
              <a:t>oints, with Loyalty </a:t>
            </a:r>
            <a:r>
              <a:rPr lang="en-GB" sz="2600" dirty="0">
                <a:solidFill>
                  <a:srgbClr val="2439D6"/>
                </a:solidFill>
              </a:rPr>
              <a:t>I</a:t>
            </a:r>
            <a:r>
              <a:rPr lang="en-GB" sz="2600" b="0" i="0" dirty="0">
                <a:solidFill>
                  <a:srgbClr val="2439D6"/>
                </a:solidFill>
                <a:effectLst/>
              </a:rPr>
              <a:t>nitially </a:t>
            </a:r>
            <a:r>
              <a:rPr lang="en-GB" sz="2600" dirty="0">
                <a:solidFill>
                  <a:srgbClr val="2439D6"/>
                </a:solidFill>
              </a:rPr>
              <a:t>I</a:t>
            </a:r>
            <a:r>
              <a:rPr lang="en-GB" sz="2600" b="0" i="0" dirty="0">
                <a:solidFill>
                  <a:srgbClr val="2439D6"/>
                </a:solidFill>
                <a:effectLst/>
              </a:rPr>
              <a:t>ncreasing but Later </a:t>
            </a:r>
            <a:r>
              <a:rPr lang="en-GB" sz="2600" dirty="0">
                <a:solidFill>
                  <a:srgbClr val="2439D6"/>
                </a:solidFill>
              </a:rPr>
              <a:t>D</a:t>
            </a:r>
            <a:r>
              <a:rPr lang="en-GB" sz="2600" b="0" i="0" dirty="0">
                <a:solidFill>
                  <a:srgbClr val="2439D6"/>
                </a:solidFill>
                <a:effectLst/>
              </a:rPr>
              <a:t>eclining</a:t>
            </a:r>
            <a:r>
              <a:rPr lang="en-GB" sz="2600" b="0" i="0" dirty="0">
                <a:solidFill>
                  <a:srgbClr val="0D0D0D"/>
                </a:solidFill>
                <a:effectLst/>
              </a:rPr>
              <a:t> </a:t>
            </a:r>
            <a:r>
              <a:rPr lang="en-GB" sz="2600" dirty="0">
                <a:solidFill>
                  <a:srgbClr val="0D0D0D"/>
                </a:solidFill>
              </a:rPr>
              <a:t>P</a:t>
            </a:r>
            <a:r>
              <a:rPr lang="en-GB" sz="2600" b="0" i="0" dirty="0">
                <a:solidFill>
                  <a:srgbClr val="0D0D0D"/>
                </a:solidFill>
                <a:effectLst/>
              </a:rPr>
              <a:t>ast a Certain </a:t>
            </a:r>
            <a:r>
              <a:rPr lang="en-GB" sz="2600" dirty="0">
                <a:solidFill>
                  <a:srgbClr val="0D0D0D"/>
                </a:solidFill>
              </a:rPr>
              <a:t>T</a:t>
            </a:r>
            <a:r>
              <a:rPr lang="en-GB" sz="2600" b="0" i="0" dirty="0">
                <a:solidFill>
                  <a:srgbClr val="0D0D0D"/>
                </a:solidFill>
                <a:effectLst/>
              </a:rPr>
              <a:t>hreshold.</a:t>
            </a:r>
            <a:endParaRPr lang="en-GB" sz="2600" dirty="0"/>
          </a:p>
        </p:txBody>
      </p:sp>
      <p:pic>
        <p:nvPicPr>
          <p:cNvPr id="12" name="Picture 11" descr="A graph with blue dots and red line&#10;&#10;Description automatically generated">
            <a:extLst>
              <a:ext uri="{FF2B5EF4-FFF2-40B4-BE49-F238E27FC236}">
                <a16:creationId xmlns:a16="http://schemas.microsoft.com/office/drawing/2014/main" id="{28AC30EA-D426-1087-8EC9-8ED5F94E6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6515" y="1680469"/>
            <a:ext cx="7750628" cy="4549330"/>
          </a:xfrm>
          <a:prstGeom prst="rect">
            <a:avLst/>
          </a:prstGeom>
        </p:spPr>
      </p:pic>
      <p:pic>
        <p:nvPicPr>
          <p:cNvPr id="58" name="Audio 57">
            <a:hlinkClick r:id="" action="ppaction://media"/>
            <a:extLst>
              <a:ext uri="{FF2B5EF4-FFF2-40B4-BE49-F238E27FC236}">
                <a16:creationId xmlns:a16="http://schemas.microsoft.com/office/drawing/2014/main" id="{6E649EC1-046C-F911-7706-A13AF159E1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51091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601"/>
    </mc:Choice>
    <mc:Fallback xmlns="">
      <p:transition spd="slow" advTm="266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AA730-4B06-4253-0025-1F8EF19929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199" y="537029"/>
            <a:ext cx="10515599" cy="1326147"/>
          </a:xfrm>
        </p:spPr>
        <p:txBody>
          <a:bodyPr/>
          <a:lstStyle/>
          <a:p>
            <a:r>
              <a:rPr lang="en-GB" sz="2800" b="0" i="0" dirty="0">
                <a:solidFill>
                  <a:srgbClr val="0D0D0D"/>
                </a:solidFill>
                <a:effectLst/>
              </a:rPr>
              <a:t>Education Level Impact: </a:t>
            </a:r>
            <a:r>
              <a:rPr lang="en-GB" sz="2800" b="0" i="0" dirty="0">
                <a:solidFill>
                  <a:srgbClr val="2439D6"/>
                </a:solidFill>
                <a:effectLst/>
              </a:rPr>
              <a:t>Basic Education </a:t>
            </a:r>
            <a:r>
              <a:rPr lang="en-GB" sz="2800" b="0" i="0" dirty="0">
                <a:solidFill>
                  <a:srgbClr val="0D0D0D"/>
                </a:solidFill>
                <a:effectLst/>
              </a:rPr>
              <a:t>Customers Show </a:t>
            </a:r>
            <a:r>
              <a:rPr lang="en-GB" sz="2800" b="0" i="0" dirty="0">
                <a:solidFill>
                  <a:srgbClr val="2439D6"/>
                </a:solidFill>
                <a:effectLst/>
              </a:rPr>
              <a:t>Highest Loyalty</a:t>
            </a:r>
            <a:r>
              <a:rPr lang="en-GB" sz="2800" b="0" i="0" dirty="0">
                <a:solidFill>
                  <a:srgbClr val="0D0D0D"/>
                </a:solidFill>
                <a:effectLst/>
              </a:rPr>
              <a:t>, suggesting </a:t>
            </a:r>
            <a:r>
              <a:rPr lang="en-GB" sz="2800" b="0" i="0" dirty="0">
                <a:solidFill>
                  <a:srgbClr val="2439D6"/>
                </a:solidFill>
                <a:effectLst/>
              </a:rPr>
              <a:t>Less Income Influence</a:t>
            </a:r>
            <a:endParaRPr lang="en-GB" sz="2800" dirty="0">
              <a:solidFill>
                <a:srgbClr val="2439D6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71EC16-90D4-1F53-7F82-16874F20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 dirty="0"/>
              <a:t>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82967-B79C-CDE3-5C70-7AC20AE7D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 dirty="0"/>
              <a:t>Turtle Games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FEAD81-7A30-E248-C183-AD0E2C45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6</a:t>
            </a:fld>
            <a:endParaRPr lang="en-GB" noProof="0" dirty="0"/>
          </a:p>
        </p:txBody>
      </p:sp>
      <p:pic>
        <p:nvPicPr>
          <p:cNvPr id="12" name="Picture 11" descr="A graph of a number of points&#10;&#10;Description automatically generated">
            <a:extLst>
              <a:ext uri="{FF2B5EF4-FFF2-40B4-BE49-F238E27FC236}">
                <a16:creationId xmlns:a16="http://schemas.microsoft.com/office/drawing/2014/main" id="{AE5CF251-3E30-F2AE-30D6-333A9815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1727200"/>
            <a:ext cx="5025572" cy="4378177"/>
          </a:xfrm>
          <a:prstGeom prst="rect">
            <a:avLst/>
          </a:prstGeom>
        </p:spPr>
      </p:pic>
      <p:pic>
        <p:nvPicPr>
          <p:cNvPr id="15" name="Picture 14" descr="A graph of income and loyalty points&#10;&#10;Description automatically generated">
            <a:extLst>
              <a:ext uri="{FF2B5EF4-FFF2-40B4-BE49-F238E27FC236}">
                <a16:creationId xmlns:a16="http://schemas.microsoft.com/office/drawing/2014/main" id="{BAAFCFBB-2F95-2FF7-E2CF-7DACD78C9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400" y="1727199"/>
            <a:ext cx="5232541" cy="4378177"/>
          </a:xfrm>
          <a:prstGeom prst="rect">
            <a:avLst/>
          </a:prstGeom>
        </p:spPr>
      </p:pic>
      <p:pic>
        <p:nvPicPr>
          <p:cNvPr id="54" name="Audio 53">
            <a:hlinkClick r:id="" action="ppaction://media"/>
            <a:extLst>
              <a:ext uri="{FF2B5EF4-FFF2-40B4-BE49-F238E27FC236}">
                <a16:creationId xmlns:a16="http://schemas.microsoft.com/office/drawing/2014/main" id="{0F9F792C-83F7-6409-02EC-CD0EEB2FF7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8505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601"/>
    </mc:Choice>
    <mc:Fallback xmlns="">
      <p:transition spd="slow" advTm="216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71EC16-90D4-1F53-7F82-16874F20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 dirty="0"/>
              <a:t>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82967-B79C-CDE3-5C70-7AC20AE7D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 dirty="0"/>
              <a:t>Turtle Games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FEAD81-7A30-E248-C183-AD0E2C45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7</a:t>
            </a:fld>
            <a:endParaRPr lang="en-GB" noProof="0" dirty="0"/>
          </a:p>
        </p:txBody>
      </p:sp>
      <p:pic>
        <p:nvPicPr>
          <p:cNvPr id="15" name="Picture 14" descr="A graph showing a red line&#10;&#10;Description automatically generated">
            <a:extLst>
              <a:ext uri="{FF2B5EF4-FFF2-40B4-BE49-F238E27FC236}">
                <a16:creationId xmlns:a16="http://schemas.microsoft.com/office/drawing/2014/main" id="{240D7015-A74F-3CA9-A7B0-FC12A5939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5543" y="1103086"/>
            <a:ext cx="7649028" cy="510177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70C6FC7-19EB-531A-A5D8-5C767A2E9E8C}"/>
              </a:ext>
            </a:extLst>
          </p:cNvPr>
          <p:cNvSpPr txBox="1">
            <a:spLocks/>
          </p:cNvSpPr>
          <p:nvPr/>
        </p:nvSpPr>
        <p:spPr>
          <a:xfrm>
            <a:off x="838200" y="250557"/>
            <a:ext cx="11121571" cy="13261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ea typeface="Aptos" panose="020B0004020202020204" pitchFamily="34" charset="0"/>
              </a:rPr>
              <a:t>T</a:t>
            </a:r>
            <a:r>
              <a:rPr lang="en-GB" sz="2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ptos" panose="020B0004020202020204" pitchFamily="34" charset="0"/>
              </a:rPr>
              <a:t>he Combined Effects of </a:t>
            </a:r>
            <a:r>
              <a:rPr lang="en-GB" sz="2800" dirty="0">
                <a:solidFill>
                  <a:srgbClr val="2439D6"/>
                </a:solidFill>
                <a:highlight>
                  <a:srgbClr val="FFFFFF"/>
                </a:highlight>
                <a:latin typeface="Arial" panose="020B0604020202020204" pitchFamily="34" charset="0"/>
                <a:ea typeface="Aptos" panose="020B0004020202020204" pitchFamily="34" charset="0"/>
              </a:rPr>
              <a:t>I</a:t>
            </a:r>
            <a:r>
              <a:rPr lang="en-GB" sz="2800" dirty="0">
                <a:solidFill>
                  <a:srgbClr val="2439D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ncome and Spend </a:t>
            </a:r>
            <a:r>
              <a:rPr lang="en-GB" sz="28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on </a:t>
            </a:r>
            <a:r>
              <a:rPr lang="en-GB" sz="2800" dirty="0">
                <a:solidFill>
                  <a:srgbClr val="2439D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Loyalty</a:t>
            </a:r>
            <a:r>
              <a:rPr lang="en-GB" sz="28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</a:t>
            </a:r>
            <a:r>
              <a:rPr lang="en-GB" sz="2800" dirty="0">
                <a:latin typeface="Arial" panose="020B0604020202020204" pitchFamily="34" charset="0"/>
                <a:ea typeface="Aptos" panose="020B0004020202020204" pitchFamily="34" charset="0"/>
              </a:rPr>
              <a:t>S</a:t>
            </a:r>
            <a:r>
              <a:rPr lang="en-GB" sz="28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ignificantly </a:t>
            </a:r>
            <a:r>
              <a:rPr lang="en-GB" sz="2800" dirty="0">
                <a:solidFill>
                  <a:srgbClr val="2439D6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P</a:t>
            </a:r>
            <a:r>
              <a:rPr lang="en-GB" sz="2800" dirty="0">
                <a:solidFill>
                  <a:srgbClr val="2439D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ositive</a:t>
            </a:r>
            <a:endParaRPr lang="en-GB" sz="2800" dirty="0">
              <a:solidFill>
                <a:srgbClr val="2439D6"/>
              </a:solidFill>
            </a:endParaRPr>
          </a:p>
        </p:txBody>
      </p:sp>
      <p:pic>
        <p:nvPicPr>
          <p:cNvPr id="49" name="Audio 48">
            <a:hlinkClick r:id="" action="ppaction://media"/>
            <a:extLst>
              <a:ext uri="{FF2B5EF4-FFF2-40B4-BE49-F238E27FC236}">
                <a16:creationId xmlns:a16="http://schemas.microsoft.com/office/drawing/2014/main" id="{63ED86F8-0705-628F-3616-3DBBC22788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3946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62"/>
    </mc:Choice>
    <mc:Fallback xmlns="">
      <p:transition spd="slow" advTm="370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9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72B590-5413-C3E5-10B0-2E2BCB6E2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 dirty="0"/>
              <a:t>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F29F5-7A66-4B3D-34A2-6D93CA99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 dirty="0"/>
              <a:t>Turtle Games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3C2E9-CADF-5354-9FA8-0E3400825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8</a:t>
            </a:fld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C96121-E4D8-3B83-03D4-E492D5A83A79}"/>
              </a:ext>
            </a:extLst>
          </p:cNvPr>
          <p:cNvSpPr txBox="1"/>
          <p:nvPr/>
        </p:nvSpPr>
        <p:spPr>
          <a:xfrm>
            <a:off x="8153400" y="2844795"/>
            <a:ext cx="35433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2439D6"/>
                </a:solidFill>
              </a:rPr>
              <a:t>0 </a:t>
            </a:r>
            <a:r>
              <a:rPr lang="en-GB" dirty="0"/>
              <a:t>Moderate Income Spending</a:t>
            </a:r>
            <a:r>
              <a:rPr lang="en-GB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4"/>
                </a:solidFill>
              </a:rPr>
              <a:t>1 </a:t>
            </a:r>
            <a:r>
              <a:rPr lang="en-GB" dirty="0"/>
              <a:t>High Income but Low Spending.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6"/>
                </a:solidFill>
              </a:rPr>
              <a:t>3 </a:t>
            </a:r>
            <a:r>
              <a:rPr lang="en-GB" dirty="0"/>
              <a:t>High Income and Spending.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F0000"/>
                </a:solidFill>
              </a:rPr>
              <a:t>4 </a:t>
            </a:r>
            <a:r>
              <a:rPr lang="en-GB" dirty="0"/>
              <a:t>Low Income but High Spending.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CC66FF"/>
                </a:solidFill>
              </a:rPr>
              <a:t>5 </a:t>
            </a:r>
            <a:r>
              <a:rPr lang="en-GB" dirty="0"/>
              <a:t>Low Income and Spending.</a:t>
            </a:r>
          </a:p>
        </p:txBody>
      </p:sp>
      <p:pic>
        <p:nvPicPr>
          <p:cNvPr id="14" name="Content Placeholder 13" descr="A screen shot of a graph&#10;&#10;Description automatically generated">
            <a:extLst>
              <a:ext uri="{FF2B5EF4-FFF2-40B4-BE49-F238E27FC236}">
                <a16:creationId xmlns:a16="http://schemas.microsoft.com/office/drawing/2014/main" id="{A07B76E9-E071-1B9D-D0C8-16E98DB9D0B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5"/>
          <a:stretch>
            <a:fillRect/>
          </a:stretch>
        </p:blipFill>
        <p:spPr>
          <a:xfrm>
            <a:off x="838201" y="1410048"/>
            <a:ext cx="6767286" cy="4729495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983093-89AE-D1A4-9A66-F04787037758}"/>
              </a:ext>
            </a:extLst>
          </p:cNvPr>
          <p:cNvSpPr txBox="1"/>
          <p:nvPr/>
        </p:nvSpPr>
        <p:spPr>
          <a:xfrm>
            <a:off x="838200" y="273497"/>
            <a:ext cx="105155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i="0" dirty="0">
                <a:solidFill>
                  <a:srgbClr val="FF0000"/>
                </a:solidFill>
                <a:effectLst/>
              </a:rPr>
              <a:t>High-income Customers </a:t>
            </a:r>
            <a:r>
              <a:rPr lang="en-GB" sz="2800" dirty="0">
                <a:solidFill>
                  <a:srgbClr val="0D0D0D"/>
                </a:solidFill>
              </a:rPr>
              <a:t>N</a:t>
            </a:r>
            <a:r>
              <a:rPr lang="en-GB" sz="2800" b="0" i="0" dirty="0">
                <a:solidFill>
                  <a:srgbClr val="0D0D0D"/>
                </a:solidFill>
                <a:effectLst/>
              </a:rPr>
              <a:t>eed </a:t>
            </a:r>
            <a:r>
              <a:rPr lang="en-GB" sz="2800" dirty="0">
                <a:solidFill>
                  <a:srgbClr val="0D0D0D"/>
                </a:solidFill>
              </a:rPr>
              <a:t>A</a:t>
            </a:r>
            <a:r>
              <a:rPr lang="en-GB" sz="2800" b="0" i="0" dirty="0">
                <a:solidFill>
                  <a:srgbClr val="0D0D0D"/>
                </a:solidFill>
                <a:effectLst/>
              </a:rPr>
              <a:t>ttention due to their </a:t>
            </a:r>
            <a:r>
              <a:rPr lang="en-GB" sz="2800" dirty="0">
                <a:solidFill>
                  <a:srgbClr val="0D0D0D"/>
                </a:solidFill>
              </a:rPr>
              <a:t>U</a:t>
            </a:r>
            <a:r>
              <a:rPr lang="en-GB" sz="2800" b="0" i="0" dirty="0">
                <a:solidFill>
                  <a:srgbClr val="0D0D0D"/>
                </a:solidFill>
                <a:effectLst/>
              </a:rPr>
              <a:t>nexpectedly </a:t>
            </a:r>
            <a:r>
              <a:rPr lang="en-GB" sz="2800" dirty="0">
                <a:solidFill>
                  <a:srgbClr val="FF0000"/>
                </a:solidFill>
              </a:rPr>
              <a:t>L</a:t>
            </a:r>
            <a:r>
              <a:rPr lang="en-GB" sz="2800" b="0" i="0" dirty="0">
                <a:solidFill>
                  <a:srgbClr val="FF0000"/>
                </a:solidFill>
                <a:effectLst/>
              </a:rPr>
              <a:t>ow </a:t>
            </a:r>
            <a:r>
              <a:rPr lang="en-GB" sz="2800" dirty="0">
                <a:solidFill>
                  <a:srgbClr val="FF0000"/>
                </a:solidFill>
              </a:rPr>
              <a:t>S</a:t>
            </a:r>
            <a:r>
              <a:rPr lang="en-GB" sz="2800" b="0" i="0" dirty="0">
                <a:solidFill>
                  <a:srgbClr val="FF0000"/>
                </a:solidFill>
                <a:effectLst/>
              </a:rPr>
              <a:t>pending </a:t>
            </a:r>
            <a:r>
              <a:rPr lang="en-GB" sz="2800" dirty="0">
                <a:solidFill>
                  <a:srgbClr val="FF0000"/>
                </a:solidFill>
              </a:rPr>
              <a:t>H</a:t>
            </a:r>
            <a:r>
              <a:rPr lang="en-GB" sz="2800" b="0" i="0" dirty="0">
                <a:solidFill>
                  <a:srgbClr val="FF0000"/>
                </a:solidFill>
                <a:effectLst/>
              </a:rPr>
              <a:t>abits</a:t>
            </a:r>
            <a:r>
              <a:rPr lang="en-GB" sz="2800" b="0" i="0" dirty="0">
                <a:solidFill>
                  <a:srgbClr val="0D0D0D"/>
                </a:solidFill>
                <a:effectLst/>
              </a:rPr>
              <a:t>.</a:t>
            </a:r>
            <a:endParaRPr lang="en-GB" sz="2800" dirty="0"/>
          </a:p>
        </p:txBody>
      </p:sp>
      <p:pic>
        <p:nvPicPr>
          <p:cNvPr id="85" name="Audio 84">
            <a:hlinkClick r:id="" action="ppaction://media"/>
            <a:extLst>
              <a:ext uri="{FF2B5EF4-FFF2-40B4-BE49-F238E27FC236}">
                <a16:creationId xmlns:a16="http://schemas.microsoft.com/office/drawing/2014/main" id="{3C604424-B47B-0EAA-2D32-82E0E9E760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54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862"/>
    </mc:Choice>
    <mc:Fallback xmlns="">
      <p:transition spd="slow" advTm="978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72B590-5413-C3E5-10B0-2E2BCB6E2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 dirty="0"/>
              <a:t>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F29F5-7A66-4B3D-34A2-6D93CA99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dirty="0"/>
              <a:t>Turtle Games</a:t>
            </a:r>
            <a:endParaRPr lang="en-GB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3C2E9-CADF-5354-9FA8-0E3400825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9</a:t>
            </a:fld>
            <a:endParaRPr lang="en-GB" noProof="0" dirty="0"/>
          </a:p>
        </p:txBody>
      </p:sp>
      <p:pic>
        <p:nvPicPr>
          <p:cNvPr id="10" name="Content Placeholder 9" descr="A close up of words&#10;&#10;Description automatically generated">
            <a:extLst>
              <a:ext uri="{FF2B5EF4-FFF2-40B4-BE49-F238E27FC236}">
                <a16:creationId xmlns:a16="http://schemas.microsoft.com/office/drawing/2014/main" id="{9A8D19AB-6FD3-8408-D9D8-C4AC9C0B40E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5"/>
          <a:stretch>
            <a:fillRect/>
          </a:stretch>
        </p:blipFill>
        <p:spPr>
          <a:xfrm>
            <a:off x="1066800" y="596900"/>
            <a:ext cx="9982200" cy="5461000"/>
          </a:xfrm>
        </p:spPr>
      </p:pic>
      <p:pic>
        <p:nvPicPr>
          <p:cNvPr id="38" name="Audio 37">
            <a:hlinkClick r:id="" action="ppaction://media"/>
            <a:extLst>
              <a:ext uri="{FF2B5EF4-FFF2-40B4-BE49-F238E27FC236}">
                <a16:creationId xmlns:a16="http://schemas.microsoft.com/office/drawing/2014/main" id="{B903EE20-BC55-F5AA-7B85-AD3544198F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5400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08"/>
    </mc:Choice>
    <mc:Fallback xmlns="">
      <p:transition spd="slow" advTm="199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72B590-5413-C3E5-10B0-2E2BCB6E2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 dirty="0"/>
              <a:t>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F29F5-7A66-4B3D-34A2-6D93CA99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 dirty="0"/>
              <a:t>Turtle Games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3C2E9-CADF-5354-9FA8-0E3400825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10</a:t>
            </a:fld>
            <a:endParaRPr lang="en-GB" noProof="0" dirty="0"/>
          </a:p>
        </p:txBody>
      </p:sp>
      <p:pic>
        <p:nvPicPr>
          <p:cNvPr id="15" name="Picture 14" descr="A close up of words&#10;&#10;Description automatically generated">
            <a:extLst>
              <a:ext uri="{FF2B5EF4-FFF2-40B4-BE49-F238E27FC236}">
                <a16:creationId xmlns:a16="http://schemas.microsoft.com/office/drawing/2014/main" id="{0B71BB7D-F2B2-6810-3AC5-F0CC1BAE6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8100" y="635000"/>
            <a:ext cx="9626600" cy="5372100"/>
          </a:xfrm>
          <a:prstGeom prst="rect">
            <a:avLst/>
          </a:prstGeom>
        </p:spPr>
      </p:pic>
      <p:pic>
        <p:nvPicPr>
          <p:cNvPr id="34" name="Audio 33">
            <a:hlinkClick r:id="" action="ppaction://media"/>
            <a:extLst>
              <a:ext uri="{FF2B5EF4-FFF2-40B4-BE49-F238E27FC236}">
                <a16:creationId xmlns:a16="http://schemas.microsoft.com/office/drawing/2014/main" id="{51607CFC-8ED6-EBAF-75B7-DF71C5568C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6318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277"/>
    </mc:Choice>
    <mc:Fallback xmlns="">
      <p:transition spd="slow" advTm="502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4C827-2DB9-46A7-829D-58344F975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877" y="1195613"/>
            <a:ext cx="5957779" cy="749301"/>
          </a:xfrm>
        </p:spPr>
        <p:txBody>
          <a:bodyPr anchor="t">
            <a:normAutofit/>
          </a:bodyPr>
          <a:lstStyle/>
          <a:p>
            <a:r>
              <a:rPr lang="en-GB" b="1" dirty="0">
                <a:solidFill>
                  <a:srgbClr val="2439D6"/>
                </a:solidFill>
              </a:rPr>
              <a:t>recommendations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0AF84E8-3E5A-8AB5-140A-21E6D7A0C1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42877" y="1944914"/>
            <a:ext cx="6610922" cy="473528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GB" sz="2000" b="1" kern="100" dirty="0">
                <a:solidFill>
                  <a:srgbClr val="0D0D0D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Refine Targeting Strategies:</a:t>
            </a:r>
            <a:r>
              <a:rPr lang="en-GB" sz="2000" kern="100" dirty="0">
                <a:solidFill>
                  <a:srgbClr val="0D0D0D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Encourage loyalty among high-spending customers and those with basic education.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GB" sz="2000" b="1" kern="100" dirty="0">
                <a:solidFill>
                  <a:srgbClr val="0D0D0D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Proactive Customer Engagement:</a:t>
            </a:r>
            <a:r>
              <a:rPr lang="en-GB" sz="2000" kern="100" dirty="0">
                <a:solidFill>
                  <a:srgbClr val="0D0D0D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Engage dissatisfied customers in direct consultations to understand their concerns and provide customized solutions.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GB" sz="2000" b="1" kern="100" dirty="0">
                <a:solidFill>
                  <a:srgbClr val="0D0D0D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Comprehensive Sales and Product Analysis:</a:t>
            </a:r>
            <a:r>
              <a:rPr lang="en-GB" sz="2000" kern="100" dirty="0">
                <a:solidFill>
                  <a:srgbClr val="0D0D0D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0" i="0" dirty="0">
                <a:solidFill>
                  <a:srgbClr val="0D0D0D"/>
                </a:solidFill>
                <a:effectLst/>
              </a:rPr>
              <a:t>Analyse for reasons low customer spending, identify underperforming products, address quality issues, and optimize product offerings.</a:t>
            </a:r>
            <a:endParaRPr lang="en-US" sz="20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A3C7C-F505-EB07-D466-4D340F4BD32B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noProof="0" dirty="0"/>
              <a:t>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F67B7D-254A-5B23-4938-7014F841FFA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noProof="0" dirty="0"/>
              <a:t>Turtle Games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B875D-32CA-1D8F-0A77-0161BCBC1ED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n-GB" noProof="0" smtClean="0"/>
              <a:pPr rtl="0">
                <a:spcAft>
                  <a:spcPts val="600"/>
                </a:spcAft>
              </a:pPr>
              <a:t>11</a:t>
            </a:fld>
            <a:endParaRPr lang="en-GB" noProof="0" dirty="0"/>
          </a:p>
        </p:txBody>
      </p:sp>
      <p:pic>
        <p:nvPicPr>
          <p:cNvPr id="48" name="Audio 47">
            <a:hlinkClick r:id="" action="ppaction://media"/>
            <a:extLst>
              <a:ext uri="{FF2B5EF4-FFF2-40B4-BE49-F238E27FC236}">
                <a16:creationId xmlns:a16="http://schemas.microsoft.com/office/drawing/2014/main" id="{F52DA44D-C99E-5BC1-238E-92EAFD4FFA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6199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304"/>
    </mc:Choice>
    <mc:Fallback xmlns="">
      <p:transition spd="slow" advTm="1253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932317"/>
            <a:ext cx="5111750" cy="1183367"/>
          </a:xfrm>
        </p:spPr>
        <p:txBody>
          <a:bodyPr rtlCol="0"/>
          <a:lstStyle/>
          <a:p>
            <a:pPr rtl="0"/>
            <a:r>
              <a:rPr lang="en-GB" b="1" dirty="0">
                <a:solidFill>
                  <a:srgbClr val="2439D6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1388" y="2423886"/>
            <a:ext cx="5876926" cy="317862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just"/>
            <a:r>
              <a:rPr lang="en-GB" sz="2400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By addressing these key areas—targeting specific customer groups, engaging with dissatisfied customers, conducting thorough sales analysis, and prioritising product quality—we can optimize our market offerings, and achieve sustained growth </a:t>
            </a:r>
            <a:r>
              <a:rPr lang="en-GB" sz="24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in the gaming industry.</a:t>
            </a:r>
            <a:endParaRPr lang="en-GB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EA823-8519-4F9D-81FA-36731310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 dirty="0"/>
              <a:t>Turtle Games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12</a:t>
            </a:fld>
            <a:endParaRPr lang="en-GB" dirty="0"/>
          </a:p>
        </p:txBody>
      </p:sp>
      <p:pic>
        <p:nvPicPr>
          <p:cNvPr id="56" name="Audio 55">
            <a:hlinkClick r:id="" action="ppaction://media"/>
            <a:extLst>
              <a:ext uri="{FF2B5EF4-FFF2-40B4-BE49-F238E27FC236}">
                <a16:creationId xmlns:a16="http://schemas.microsoft.com/office/drawing/2014/main" id="{D830DE16-BD98-DB45-6B4A-1482B4878E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847"/>
    </mc:Choice>
    <mc:Fallback xmlns="">
      <p:transition spd="slow" advTm="228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2400300"/>
            <a:ext cx="5431971" cy="698500"/>
          </a:xfrm>
        </p:spPr>
        <p:txBody>
          <a:bodyPr rtlCol="0" anchor="t">
            <a:normAutofit/>
          </a:bodyPr>
          <a:lstStyle/>
          <a:p>
            <a:pPr rtl="0"/>
            <a:r>
              <a:rPr lang="en-GB" sz="3200" b="1" dirty="0">
                <a:solidFill>
                  <a:srgbClr val="2439D6"/>
                </a:solidFill>
              </a:rPr>
              <a:t>THANK YOU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97DCF4C-866F-7F74-6FB2-823A961005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3314700"/>
            <a:ext cx="5433204" cy="533400"/>
          </a:xfrm>
        </p:spPr>
        <p:txBody>
          <a:bodyPr>
            <a:normAutofit fontScale="25000" lnSpcReduction="20000"/>
          </a:bodyPr>
          <a:lstStyle/>
          <a:p>
            <a:pPr rtl="0">
              <a:lnSpc>
                <a:spcPct val="90000"/>
              </a:lnSpc>
            </a:pPr>
            <a:r>
              <a:rPr lang="en-GB" sz="6400" dirty="0"/>
              <a:t>Gozde McGerr</a:t>
            </a:r>
          </a:p>
          <a:p>
            <a:pPr rtl="0">
              <a:lnSpc>
                <a:spcPct val="90000"/>
              </a:lnSpc>
            </a:pPr>
            <a:r>
              <a:rPr lang="en-GB" sz="6400" dirty="0"/>
              <a:t>22/04/2024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Turtle Games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n-GB" smtClean="0"/>
              <a:pPr rtl="0">
                <a:spcAft>
                  <a:spcPts val="600"/>
                </a:spcAft>
              </a:pPr>
              <a:t>13</a:t>
            </a:fld>
            <a:endParaRPr lang="en-GB" dirty="0"/>
          </a:p>
        </p:txBody>
      </p:sp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15C6DC4C-8B6F-C00E-93CA-42FE56701E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5"/>
    </mc:Choice>
    <mc:Fallback xmlns="">
      <p:transition spd="slow" advTm="31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BA3906-9696-4247-AC0D-DD5C26B2A7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9629</TotalTime>
  <Words>418</Words>
  <Application>Microsoft Office PowerPoint</Application>
  <PresentationFormat>Widescreen</PresentationFormat>
  <Paragraphs>105</Paragraphs>
  <Slides>13</Slides>
  <Notes>13</Notes>
  <HiddenSlides>0</HiddenSlides>
  <MMClips>13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Söhne</vt:lpstr>
      <vt:lpstr>Tenorite</vt:lpstr>
      <vt:lpstr>Monoline</vt:lpstr>
      <vt:lpstr>Turtle games</vt:lpstr>
      <vt:lpstr>Business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Turtle Games leveraging Predictive Data Analytics for Customer Engagement and Marketing Optimization</dc:title>
  <dc:creator>Gozde McGerr</dc:creator>
  <cp:lastModifiedBy>Gozde McGerr</cp:lastModifiedBy>
  <cp:revision>4</cp:revision>
  <dcterms:created xsi:type="dcterms:W3CDTF">2024-04-14T09:23:13Z</dcterms:created>
  <dcterms:modified xsi:type="dcterms:W3CDTF">2024-05-30T21:24:37Z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